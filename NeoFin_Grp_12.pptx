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15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82696" y="0"/>
            <a:ext cx="822960" cy="5143500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34741" y="0"/>
            <a:ext cx="137160" cy="514350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201168"/>
            <a:ext cx="4846320" cy="0"/>
          </a:xfrm>
          <a:prstGeom prst="line">
            <a:avLst/>
          </a:prstGeom>
          <a:noFill/>
          <a:ln w="12700">
            <a:solidFill>
              <a:srgbClr val="319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201168"/>
            <a:ext cx="0" cy="411480"/>
          </a:xfrm>
          <a:prstGeom prst="line">
            <a:avLst/>
          </a:prstGeom>
          <a:noFill/>
          <a:ln w="1270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7968" y="173736"/>
            <a:ext cx="64008" cy="64008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4919472"/>
            <a:ext cx="1645920" cy="0"/>
          </a:xfrm>
          <a:prstGeom prst="line">
            <a:avLst/>
          </a:prstGeom>
          <a:noFill/>
          <a:ln w="11430">
            <a:solidFill>
              <a:srgbClr val="1B8A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4617720"/>
            <a:ext cx="0" cy="301752"/>
          </a:xfrm>
          <a:prstGeom prst="line">
            <a:avLst/>
          </a:prstGeom>
          <a:noFill/>
          <a:ln w="11430">
            <a:solidFill>
              <a:srgbClr val="1B8A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590288"/>
            <a:ext cx="64008" cy="64008"/>
          </a:xfrm>
          <a:prstGeom prst="ellipse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828800"/>
            <a:ext cx="914400" cy="914400"/>
          </a:xfrm>
          <a:prstGeom prst="ellipse">
            <a:avLst/>
          </a:prstGeom>
          <a:solidFill>
            <a:srgbClr val="1B8AC2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234440"/>
            <a:ext cx="347472" cy="34747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2880360"/>
            <a:ext cx="347472" cy="34747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1408176"/>
            <a:ext cx="566928" cy="457200"/>
          </a:xfrm>
          <a:prstGeom prst="line">
            <a:avLst/>
          </a:prstGeom>
          <a:noFill/>
          <a:ln w="12700">
            <a:solidFill>
              <a:srgbClr val="319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715768"/>
            <a:ext cx="758952" cy="164592"/>
          </a:xfrm>
          <a:prstGeom prst="line">
            <a:avLst/>
          </a:prstGeom>
          <a:noFill/>
          <a:ln w="12700">
            <a:solidFill>
              <a:srgbClr val="3199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" y="365760"/>
            <a:ext cx="274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99C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5943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NEOFIN</a:t>
            </a:r>
            <a:endParaRPr lang="en-US" sz="6800" dirty="0"/>
          </a:p>
        </p:txBody>
      </p:sp>
      <p:sp>
        <p:nvSpPr>
          <p:cNvPr id="19" name="Shape 17"/>
          <p:cNvSpPr/>
          <p:nvPr/>
        </p:nvSpPr>
        <p:spPr>
          <a:xfrm>
            <a:off x="4160520" y="1874520"/>
            <a:ext cx="4389120" cy="54864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0299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ISMS for a Digital Neobank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60520" y="260604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Number: 12
</a:t>
            </a:r>
            <a:r>
              <a:rPr lang="en-US" sz="10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Faris Sara  22033195    Yerim Mohamad  21052002    Ibrahim Sheikh  25006888</a:t>
            </a: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Information Risk Management — UFCFWN-15-M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23rd April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4892040"/>
            <a:ext cx="2057400" cy="0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4480560"/>
            <a:ext cx="0" cy="411480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24128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24128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078992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" y="10972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NeoFin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545336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545336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0020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161848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Landscape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066544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066544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21408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" y="213969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Regulatory Framework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587752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587752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42616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" y="2660904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Risk Level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108960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108960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6382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318211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Approach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30168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630168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85032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" y="370332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Framework (ISO 27001)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151376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151376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062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1832" y="422452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672584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672584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27448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1832" y="474573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Appetite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1024128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1024128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1078992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48072" y="10972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&amp; Effectiveness Measures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1545336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1545336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160020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48072" y="161848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Quantification Metrics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2066544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2066544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2121408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213969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 Monitoring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17720" y="2587752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2587752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2642616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48072" y="2660904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Justification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17720" y="3108960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3108960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17720" y="3163824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148072" y="318211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Challenges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17720" y="3630168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3630168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85032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48072" y="370332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Summary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617720" y="4151376"/>
            <a:ext cx="4069080" cy="438912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17720" y="4151376"/>
            <a:ext cx="438912" cy="43891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17720" y="4206240"/>
            <a:ext cx="438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148072" y="422452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ORGANISATION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4160520" cy="9144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4160520" cy="36576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972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Neobank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426464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branches — fully digital. Hosted on AWS &amp; Google Cloud Platform (multi-region active-active).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029968"/>
            <a:ext cx="4160520" cy="9144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29968"/>
            <a:ext cx="4160520" cy="36576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214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45059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million customers globally · 7,500 staff across all jurisdictions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4160520" cy="9144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54096"/>
            <a:ext cx="4160520" cy="36576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banking · Currency exchange · Cryptocurrency trading · Investment platform · Travel bookings via Duffel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078224"/>
            <a:ext cx="4160520" cy="9144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78224"/>
            <a:ext cx="4160520" cy="36576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Security Matters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13397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40M PII records, biometric KYC data (passports &amp; selfies), financial history, crypto holdings — a breach triggers FCA, ICO &amp; NCSC obligations simultaneously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BUSINESS DOMAINS IN SCOPE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4114800" cy="109728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32588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435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Infrastructure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17830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· Cloud servers · API gateways · Payment rails · Core banking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4114800" cy="109728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60320"/>
            <a:ext cx="4114800" cy="4572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670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30175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7,500+ employee laptops · Networking hardware · HSMs · Mobile devices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4114800" cy="1097280"/>
          </a:xfrm>
          <a:prstGeom prst="rect">
            <a:avLst/>
          </a:prstGeom>
          <a:solidFill>
            <a:srgbClr val="0D2144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94760"/>
            <a:ext cx="4114800" cy="45720"/>
          </a:xfrm>
          <a:prstGeom prst="rect">
            <a:avLst/>
          </a:prstGeom>
          <a:solidFill>
            <a:srgbClr val="5BB8E8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904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Support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2519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printing vendors · KYC providers · Global customer support centres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LANDSCAPE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182880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48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NeoFin operates in a high-threat financial sector — neobanks increasingly targeted due to a fully digital attack surface and rapid growth.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threat analysis: 20 risks documented in the Risk Register.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62498"/>
              </p:ext>
            </p:extLst>
          </p:nvPr>
        </p:nvGraphicFramePr>
        <p:xfrm>
          <a:off x="3749040" y="201168"/>
          <a:ext cx="5166360" cy="45575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NeoFin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Attack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banking DB shutdown; FCA breach notification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 Account Takeover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40M customer credentials at risk; auth bypass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Breach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Data Breach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Passports &amp; selfies — highest sensitivity; ICO fines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Privileged User Exfiltration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 staff with varying access levels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Provider Compromise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Third-party holds biometric data; DPA outstanding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Theft — Unencrypted Endpoint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 laptops and mobile devices at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GDPR / FCA Non-Compliance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Fines up to 4% of global annual turnover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LEGAL &amp; REGULATORY FRAMEWORK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269748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097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 / GDPR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" y="14447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 PII records · Biometric KYC data · 72-hr ICO breach notification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05840"/>
            <a:ext cx="269748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1097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FCA Regulations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4136" y="14447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financial institution · 7-year transaction data retention · Mandatory incident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005840"/>
            <a:ext cx="2697480" cy="4114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097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8776" y="144475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framework standard · NeoFin targeting full certification within 18 months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359152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359152"/>
            <a:ext cx="2697480" cy="4114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2450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Essentials (NCSC)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" y="2798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government baseline · Patch management · MFA · Access control requirements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359152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359152"/>
            <a:ext cx="2697480" cy="41148"/>
          </a:xfrm>
          <a:prstGeom prst="rect">
            <a:avLst/>
          </a:prstGeom>
          <a:solidFill>
            <a:srgbClr val="5BB8E8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450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74136" y="2798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card processing · Encryption and access control · Annual SAQ-D self-assessment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359152"/>
            <a:ext cx="2697480" cy="1188720"/>
          </a:xfrm>
          <a:prstGeom prst="rect">
            <a:avLst/>
          </a:prstGeom>
          <a:solidFill>
            <a:srgbClr val="0D2144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359152"/>
            <a:ext cx="2697480" cy="41148"/>
          </a:xfrm>
          <a:prstGeom prst="rect">
            <a:avLst/>
          </a:prstGeom>
          <a:solidFill>
            <a:srgbClr val="5BB8E8"/>
          </a:solidFill>
          <a:ln w="12700">
            <a:solidFill>
              <a:srgbClr val="5BB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2450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NIS2 — EU 2022/2555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08776" y="2798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NeoFin EU customer ops · Mandatory reporting to competent authorities within 24/72 hrs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22192"/>
            <a:ext cx="8366760" cy="114300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886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Compliance Will Be </a:t>
            </a:r>
            <a:r>
              <a:rPr lang="en-US" sz="1200" b="1" dirty="0" smtClean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regulations tracked in live Compliance Register (SoA control 5.31). DPO leads quarterly GDPR RoPA reviews · CISO presents annual SoA updates to Executive Board · PCI DSS SAQ-D completed annually · Non-compliance: ICO fines up to 4% global turnover + FCA enforcement action.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BASELINE RISK LEVEL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1965960" cy="96012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25)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005840"/>
            <a:ext cx="1965960" cy="96012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20)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1965960" cy="96012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 15–19)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005840"/>
            <a:ext cx="1965960" cy="96012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51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Post-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84832"/>
          <a:ext cx="8366760" cy="160934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Assets at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Infrastructure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banking DB · Payment rails · 40M PII records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 endpoints · HSMs · Corporate devices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 &amp; Support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provider · Card vendors · Sub-processors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11480" y="3931920"/>
            <a:ext cx="8366760" cy="1005840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400507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</a:t>
            </a: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× Impact (5×5 matrix) assessed per domain before any controls applied. </a:t>
            </a:r>
            <a:r>
              <a:rPr lang="en-US" sz="11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Post-mitigation: </a:t>
            </a: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majority of risks reduce to Medium, demonstrating the effectiveness of proposed controls. Establishing this baseline is essential for justifying ISMS investment to the Executive Board.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ASSESSMENT APPROACH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2651760" cy="324612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265176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1115568"/>
            <a:ext cx="475488" cy="475488"/>
          </a:xfrm>
          <a:prstGeom prst="ellipse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13385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0665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Scoping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368296"/>
            <a:ext cx="2377440" cy="0"/>
          </a:xfrm>
          <a:prstGeom prst="line">
            <a:avLst/>
          </a:prstGeom>
          <a:noFill/>
          <a:ln w="10160">
            <a:solidFill>
              <a:srgbClr val="1730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5059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risk identification across all 3 business domains. Structured catalogue of threats, vulnerabilities, and assets. Provides qualitative breadth for full ISMS scope.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27248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64408" y="1005840"/>
            <a:ext cx="2651760" cy="324612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1005840"/>
            <a:ext cx="265176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115568"/>
            <a:ext cx="475488" cy="475488"/>
          </a:xfrm>
          <a:prstGeom prst="ellipse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13385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 Matrix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01568" y="20665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× Impact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368296"/>
            <a:ext cx="2377440" cy="0"/>
          </a:xfrm>
          <a:prstGeom prst="line">
            <a:avLst/>
          </a:prstGeom>
          <a:noFill/>
          <a:ln w="10160">
            <a:solidFill>
              <a:srgbClr val="1730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45059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 risks scored on a standardised matrix pre- and post-mitigation. Produces comparable, auditable baselines that can be reported to the Executive Board.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0176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2651760" cy="324612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7336" y="1005840"/>
            <a:ext cx="2651760" cy="4572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1115568"/>
            <a:ext cx="475488" cy="475488"/>
          </a:xfrm>
          <a:prstGeom prst="ellipse">
            <a:avLst/>
          </a:prstGeom>
          <a:solidFill>
            <a:srgbClr val="00387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1133856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Model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54496" y="20665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Modelling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2368296"/>
            <a:ext cx="2377440" cy="0"/>
          </a:xfrm>
          <a:prstGeom prst="line">
            <a:avLst/>
          </a:prstGeom>
          <a:noFill/>
          <a:ln w="10160">
            <a:solidFill>
              <a:srgbClr val="1730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45059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top-tier risks R-001, R-002, R-003. Produces Annual Loss Expectancy (ALE) estimates and Loss Event Frequency data — financial justification for budget ask.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361688"/>
            <a:ext cx="8366760" cy="594360"/>
          </a:xfrm>
          <a:prstGeom prst="rect">
            <a:avLst/>
          </a:prstGeom>
          <a:solidFill>
            <a:srgbClr val="003875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425696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— </a:t>
            </a: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NeoFin's mix of cyber, financial, and regulatory risk requires both qualitative breadth and quantitative depth. The hybrid approach provides an auditable trail for ISO 27001 certification and a defensible financial business case for the Executive Board.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ISMS FRAMEWORK — ISO/IEC 27001:2022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4114800" cy="192024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1155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192024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116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scope covering all 3 domains · 14 security policies approved and active · Risk assessment completed · Asset Register (21 assets) documented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1005840"/>
            <a:ext cx="4114800" cy="192024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00584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1155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504688" y="1188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18888" y="192024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0116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of 93 Annex A controls implemented (94%) · 5 partially implemented — tracked in Risk Register · Controls mapped per business domain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063240"/>
            <a:ext cx="4114800" cy="192024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06324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729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34440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690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KRI dashboard · Internal audit cycle · Domain Director reporting to Executive Board · SoA reviewed each quarter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81728" y="3063240"/>
            <a:ext cx="4114800" cy="192024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306324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72968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5504688" y="3246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18888" y="397764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0690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partial controls under active remediation (target: April–May 2026) · P1/P2 incident lessons feed directly back into risk register updates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REGISTER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818388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818388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923544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risks across 3 domains · Full register submitted as supporting document · Treatment: Mitigate (primary) · Transfer (KYC/card vendors) · Accept (low-appetite)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450964"/>
              </p:ext>
            </p:extLst>
          </p:nvPr>
        </p:nvGraphicFramePr>
        <p:xfrm>
          <a:off x="411480" y="1261872"/>
          <a:ext cx="8452105" cy="3364992"/>
        </p:xfrm>
        <a:graphic>
          <a:graphicData uri="http://schemas.openxmlformats.org/drawingml/2006/table">
            <a:tbl>
              <a:tblPr/>
              <a:tblGrid>
                <a:gridCol w="77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0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ID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Pre-Score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Post-Score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Attack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— Critical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 Account Takeover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— Critical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Data Breach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— Critical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— V.High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Insider — Data Exfiltration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— High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Rail Compromise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&amp; Infra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— Critical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Provider Compromise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— High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R-019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DPA Non-Compliance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— High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— Medium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APPETITE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836676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54864" cy="117043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0972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Infrastructure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4264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Infrastructure Director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133856"/>
            <a:ext cx="1554480" cy="36576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338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115568"/>
            <a:ext cx="18288" cy="950976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09728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rails, core banking DB and 40M customer records are existential assets. A breach simultaneously triggers FCA, ICO and NCSC obligations. Zero tolerance for preventable incidents.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304288"/>
            <a:ext cx="836676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304288"/>
            <a:ext cx="54864" cy="1170432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3957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27249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Director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432304"/>
            <a:ext cx="1554480" cy="365760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4323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414016"/>
            <a:ext cx="18288" cy="950976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39572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7,500 endpoints are replaceable assets. MDM enrollment and full disk encryption substantially reduce exposure. Residual risk manageable within standard controls and within budget.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602736"/>
            <a:ext cx="8366760" cy="1170432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602736"/>
            <a:ext cx="54864" cy="1170432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9417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Support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0233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Support Director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3730752"/>
            <a:ext cx="1554480" cy="36576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730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MEDIUM-HIGH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712464"/>
            <a:ext cx="18288" cy="950976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694176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 is contractually transferable via DPAs and vendor security obligations. Annual assessments and breach notification clauses mitigate residual exposure effectively.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983480"/>
            <a:ext cx="836676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520" y="4745736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Board sets overarching appetite · Each Director manages domain-specific tolerance · Reviewed quarterly alongside risk register update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CONTROLS &amp; EFFECTIVENESS MEASURES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mapped to ISO 27001:2022 Annex A — 87 of 93 implemented (94%)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7452360" cy="332841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Implemented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Effectiveness 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Control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Biometric MFA — all 40M customers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enrolled · ATO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Security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EDR + MDM on 7,500+ devices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devices compliant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response: 15 mins · IR retainer engaged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MTTD / MTTR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&amp; Recovery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encrypted backups · RTO &lt; 4 hrs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RTO/RPO met in DR tests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 Mgmt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patches within 72 hrs · Monthly cycle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critical CVEs patched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Awareness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phishing simulations · Annual training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 rate reduction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A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Privileged Access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 — just-in-time · All sessions logged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Privileged session audit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9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QUANTIFICATION METRICS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of measurement: KRIs (ongoing monitoring) + FAIR model outputs (financial quantification)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5074920" cy="21031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 Estimate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Event Frequency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R-001 Ransomware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£8–12M / event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1-in-3 yrs without controls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R-002 Mass 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£15–25M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1-in-4 yrs without controls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R-003 KYC Breach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0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£20M+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1-in-5 yrs without controls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£45M+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Across top 3 risks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411480" y="3584448"/>
            <a:ext cx="5074920" cy="137160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63931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86:1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411480" y="4535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090672" y="3657600"/>
            <a:ext cx="18288" cy="1234440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82112" y="3657600"/>
            <a:ext cx="22128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£525K annual ISMS investment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£45M+ combined 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86:1 return ratio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12070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INDICATORS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69280" y="149047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15453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Enrolment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17647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40M customers enrolled in biometric MFA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0" y="208483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21396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 CVEs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06440" y="23591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CVEs outstanding beyond 72-hr SLA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69280" y="267919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27340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Rate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29535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rate from quarterly simulations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669280" y="327355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3284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06440" y="35478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Detect — target: &lt; 1 hour for P1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0" y="386791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92277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06440" y="41422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Respond — target: 15 min for P1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4462272"/>
            <a:ext cx="3200400" cy="512064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45171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Coverage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06440" y="47365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supplier DPAs signed (6 outstanding)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686799" y="4904232"/>
            <a:ext cx="4572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87824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RESIDUAL RISK MONITORING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1993392" cy="2121408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1993392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078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" y="148132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monitoring · Threat intelligence feeds (NCSC, FS-ISAC) · Automated alerts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" y="2487168"/>
            <a:ext cx="1755648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56032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 Team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51176" y="1005840"/>
            <a:ext cx="1993392" cy="2121408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1176" y="1005840"/>
            <a:ext cx="1993392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1078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60904" y="148132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 dashboard review · Patch compliance report · Phishing simulation results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60904" y="2487168"/>
            <a:ext cx="1755648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256032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Manager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90872" y="1005840"/>
            <a:ext cx="1993392" cy="2121408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90872" y="1005840"/>
            <a:ext cx="1993392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78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48132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update · Director reporting to Executive Board · SoA 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487168"/>
            <a:ext cx="1755648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6032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+ Directors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30568" y="1005840"/>
            <a:ext cx="1993392" cy="2121408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1005840"/>
            <a:ext cx="1993392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07899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0296" y="1481328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ISMS internal + external audit · Penetration test · Policy review cycle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0296" y="2487168"/>
            <a:ext cx="1755648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0296" y="256032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+ Ext. Auditor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3246120"/>
            <a:ext cx="8366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RISKS REQUIRING ACTIVE MONITORING POST-MITIGATION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547872"/>
            <a:ext cx="2697480" cy="1417320"/>
          </a:xfrm>
          <a:prstGeom prst="rect">
            <a:avLst/>
          </a:prstGeom>
          <a:solidFill>
            <a:srgbClr val="0D2144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547872"/>
            <a:ext cx="2697480" cy="36576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" y="36210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" y="38953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Data Breach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" y="4206240"/>
            <a:ext cx="1508760" cy="256032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4206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Very 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9496" y="4526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hard-delete in progress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46120" y="3547872"/>
            <a:ext cx="2697480" cy="1417320"/>
          </a:xfrm>
          <a:prstGeom prst="rect">
            <a:avLst/>
          </a:prstGeom>
          <a:solidFill>
            <a:srgbClr val="0D2144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3547872"/>
            <a:ext cx="2697480" cy="36576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36210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74136" y="38953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Non-Compliance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74136" y="4206240"/>
            <a:ext cx="1508760" cy="256032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74136" y="4206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Medium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74136" y="4526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supplier DPAs outstanding — April 2026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80760" y="3547872"/>
            <a:ext cx="2697480" cy="1417320"/>
          </a:xfrm>
          <a:prstGeom prst="rect">
            <a:avLst/>
          </a:prstGeom>
          <a:solidFill>
            <a:srgbClr val="0D2144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3547872"/>
            <a:ext cx="2697480" cy="36576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08776" y="362102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R-007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08776" y="38953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Threat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08776" y="4206240"/>
            <a:ext cx="1508760" cy="256032"/>
          </a:xfrm>
          <a:prstGeom prst="rect">
            <a:avLst/>
          </a:prstGeom>
          <a:solidFill>
            <a:srgbClr val="E8921A"/>
          </a:solidFill>
          <a:ln w="12700">
            <a:solidFill>
              <a:srgbClr val="E892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08776" y="42062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— Medium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08776" y="4526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UEBA deployment in progress — May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31936" y="4846320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JUSTIFICATION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4206240" cy="1463040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05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66928" y="144475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cost of a data breach in the UK financial sector is £3.4M. NeoFin's exposure across its top 3 risks alone exceeds £45M in Annual Loss Expectancy.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46340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 Report, 2024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73168" y="1005840"/>
            <a:ext cx="4005072" cy="146304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051560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86:1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773168" y="19476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Security Investment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£525K investment  ·  £45M+ ALE exposure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37474"/>
              </p:ext>
            </p:extLst>
          </p:nvPr>
        </p:nvGraphicFramePr>
        <p:xfrm>
          <a:off x="411480" y="2665476"/>
          <a:ext cx="8366760" cy="22219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 Platform (Splunk / Sentinel)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£150,000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MTTD by ~60% · 24/7 SecOps visibility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EDR Solution — 7,500 endpoints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£120,000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containment · Malware prevention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 Solution — privileged access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Insider threat mitigation · Just-in-time access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27001 Certification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credibility · Enterprise contracts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Penetration Testing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vulnerabilities before attackers 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 Retainer (external firm)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Limits damage · 15-min P1 guaranteed 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Awareness Training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£30,000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D6E8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phishing rate · Human error 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199C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~£525,000/year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7BAF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27001 certification also unlocks enterprise and government contracts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3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619744" y="4846320"/>
            <a:ext cx="432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CHALLENGES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4114800" cy="18288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05840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" y="1115568"/>
            <a:ext cx="457200" cy="457200"/>
          </a:xfrm>
          <a:prstGeom prst="ellipse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1338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Adoption — 7,500 Staff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572768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66420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click rates typically start at 20–30% even in security-aware organisations. Training and simulations must sustain behavioural change over 18+ months. Domain Directors with competing priorities may resist new controls (e.g. PAM slowing DevOps).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1005840"/>
            <a:ext cx="4114800" cy="182880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005840"/>
            <a:ext cx="4114800" cy="4572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1115568"/>
            <a:ext cx="457200" cy="457200"/>
          </a:xfrm>
          <a:prstGeom prst="ellipse">
            <a:avLst/>
          </a:prstGeom>
          <a:solidFill>
            <a:srgbClr val="00387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1338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Integration Complexity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1572768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66420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AWS + GCP security baselines require consistent SIEM log ingestion, unified SSO + MFA, and coherent network segmentation across two providers. Configuration drift is a common audit finding in cloud-native organisations.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4114800" cy="1828800"/>
          </a:xfrm>
          <a:prstGeom prst="rect">
            <a:avLst/>
          </a:prstGeom>
          <a:solidFill>
            <a:srgbClr val="0D2144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999232"/>
            <a:ext cx="41148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3108960"/>
            <a:ext cx="457200" cy="457200"/>
          </a:xfrm>
          <a:prstGeom prst="ellipse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127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1455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Certification Whilst Scaling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service (crypto, investments, travel) adds ISMS scope. The 18-month certification timeline risks scope-creep without mandatory security sign-off gates. All 5 partial controls must reach full implementation before external audit.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2999232"/>
            <a:ext cx="4114800" cy="182880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2999232"/>
            <a:ext cx="4114800" cy="45720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9744" y="3108960"/>
            <a:ext cx="457200" cy="457200"/>
          </a:xfrm>
          <a:prstGeom prst="ellipse">
            <a:avLst/>
          </a:prstGeom>
          <a:solidFill>
            <a:srgbClr val="00387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1272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67528" y="31455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Pressure &amp; Competing Priorities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18888" y="3566160"/>
            <a:ext cx="3840480" cy="0"/>
          </a:xfrm>
          <a:prstGeom prst="line">
            <a:avLst/>
          </a:prstGeom>
          <a:noFill/>
          <a:ln w="7620">
            <a:solidFill>
              <a:srgbClr val="1730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657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£525K security budget competes with product development spend. ROSI must be demonstrated quarterly. Risk appetite tensions between Directors (low vs. medium-high) require Executive Board arbitration to set unified thresholds.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46592" y="4846320"/>
            <a:ext cx="50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SUMMARY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877824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877824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960120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960120"/>
            <a:ext cx="45720" cy="47548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03327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04241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ISO 27001:2022 certification within 18 months — formalise security posture and unlock enterprise contracts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54112" y="1042416"/>
            <a:ext cx="978408" cy="310896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104241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490472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490472"/>
            <a:ext cx="45720" cy="47548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56362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1572768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all 6 outstanding supplier DPAs by April 2026 — eliminate R-019 DPA non-compliance before go-live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54112" y="1572768"/>
            <a:ext cx="978408" cy="310896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4112" y="157276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020824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020824"/>
            <a:ext cx="45720" cy="47548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093976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210312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KYC hard-delete by April 2026 — reduce R-003 residual risk from Very High to Medium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54112" y="2103120"/>
            <a:ext cx="978408" cy="310896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10312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551176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551176"/>
            <a:ext cx="45720" cy="47548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6243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263347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UEBA solution by May 2026 — address insider threat risk (R-007) with behavioural analytics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54112" y="2633472"/>
            <a:ext cx="978408" cy="310896"/>
          </a:xfrm>
          <a:prstGeom prst="rect">
            <a:avLst/>
          </a:prstGeom>
          <a:solidFill>
            <a:srgbClr val="0D2A5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263347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081528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081528"/>
            <a:ext cx="45720" cy="47548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15468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316382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Formalise domain-specific risk appetites — ratified by Executive Board and each Domain Director quarterly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54112" y="3163824"/>
            <a:ext cx="978408" cy="310896"/>
          </a:xfrm>
          <a:prstGeom prst="rect">
            <a:avLst/>
          </a:prstGeom>
          <a:solidFill>
            <a:srgbClr val="0D2A5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3163824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" y="3611880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611880"/>
            <a:ext cx="45720" cy="47548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68503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369417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quarterly risk reporting cadence — each Director presents domain risk status to Executive 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54112" y="3694176"/>
            <a:ext cx="978408" cy="310896"/>
          </a:xfrm>
          <a:prstGeom prst="rect">
            <a:avLst/>
          </a:prstGeom>
          <a:solidFill>
            <a:srgbClr val="0D2A5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369417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4142232"/>
            <a:ext cx="8366760" cy="475488"/>
          </a:xfrm>
          <a:prstGeom prst="rect">
            <a:avLst/>
          </a:prstGeom>
          <a:solidFill>
            <a:srgbClr val="0D2144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142232"/>
            <a:ext cx="45720" cy="475488"/>
          </a:xfrm>
          <a:prstGeom prst="rect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21538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5840" y="4224528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external penetration testers annually — independently validate effectiveness of all controls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54112" y="4224528"/>
            <a:ext cx="978408" cy="310896"/>
          </a:xfrm>
          <a:prstGeom prst="rect">
            <a:avLst/>
          </a:prstGeom>
          <a:solidFill>
            <a:srgbClr val="0D2A55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422452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1480" y="4709160"/>
            <a:ext cx="8366760" cy="347472"/>
          </a:xfrm>
          <a:prstGeom prst="rect">
            <a:avLst/>
          </a:prstGeom>
          <a:solidFill>
            <a:srgbClr val="003875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9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— Next 30 Days:  </a:t>
            </a: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all 6 supplier DPAs  ·  Enforce biometric MFA for all 40M customers  ·  Activate IR retainer &amp; test P1 playbook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732520" y="484632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474720"/>
            <a:ext cx="4572000" cy="3200400"/>
          </a:xfrm>
          <a:prstGeom prst="rect">
            <a:avLst/>
          </a:prstGeom>
          <a:solidFill>
            <a:srgbClr val="173079">
              <a:alpha val="15000"/>
            </a:srgbClr>
          </a:solidFill>
          <a:ln w="12700">
            <a:solidFill>
              <a:srgbClr val="17307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64592"/>
            <a:ext cx="3017520" cy="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"/>
            <a:ext cx="0" cy="457200"/>
          </a:xfrm>
          <a:prstGeom prst="line">
            <a:avLst/>
          </a:prstGeom>
          <a:noFill/>
          <a:ln w="15240">
            <a:solidFill>
              <a:srgbClr val="319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956048"/>
            <a:ext cx="1463040" cy="0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663440"/>
            <a:ext cx="0" cy="292608"/>
          </a:xfrm>
          <a:prstGeom prst="line">
            <a:avLst/>
          </a:prstGeom>
          <a:noFill/>
          <a:ln w="1016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8016"/>
            <a:ext cx="73152" cy="73152"/>
          </a:xfrm>
          <a:prstGeom prst="ellipse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1645920" cy="41148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914400"/>
            <a:ext cx="6601968" cy="41148"/>
          </a:xfrm>
          <a:prstGeom prst="rect">
            <a:avLst/>
          </a:prstGeom>
          <a:solidFill>
            <a:srgbClr val="0D2144"/>
          </a:solidFill>
          <a:ln w="12700">
            <a:solidFill>
              <a:srgbClr val="0D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2412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0424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Union (2022) Directive (EU) 2022/2555 on measures for a high common level of cybersecurity across the Union (NIS2). Brussels: European Parliament.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148132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52704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54533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(2024) Operational Resilience. [Online] Available at: https://www.fca.org.uk [Accessed: March 2026].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198424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2996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4825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Organization for Standardization (2022) ISO/IEC 27001:2022 — Information Security, Cybersecurity and Privacy Protection. Geneva: ISO.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48716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3288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55117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Security (2024) Cost of a Data Breach Report 2024. Armonk: IBM Corporation.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299008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03580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0540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Commissioner's Office (2024) Guide to the UK General Data Protection Regulation (UK GDPR). Wilmslow: ICO.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349300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3872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557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Cyber Security Centre (2023) Cyber Essentials: Requirements for IT Infrastructure. London: NCSC.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399592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04164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5993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(2018) Framework for Improving Critical Infrastructure Cybersecurity (CSF 1.1). Gaithersburg: NIST.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4498848"/>
            <a:ext cx="8229600" cy="0"/>
          </a:xfrm>
          <a:prstGeom prst="line">
            <a:avLst/>
          </a:prstGeom>
          <a:noFill/>
          <a:ln w="6350">
            <a:solidFill>
              <a:srgbClr val="17307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544568"/>
            <a:ext cx="36576" cy="347472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56285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Group (2023) An Introduction to the FAIR Model. [Online] Available at: https://www.fairinstitute.org [Accessed: March 2026].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44128" y="4846320"/>
            <a:ext cx="408432" cy="155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01168"/>
            <a:ext cx="4114800" cy="0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201168"/>
            <a:ext cx="0" cy="457200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" y="173736"/>
            <a:ext cx="64008" cy="64008"/>
          </a:xfrm>
          <a:prstGeom prst="ellipse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4892040"/>
            <a:ext cx="4069080" cy="0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462272"/>
            <a:ext cx="0" cy="429768"/>
          </a:xfrm>
          <a:prstGeom prst="line">
            <a:avLst/>
          </a:prstGeom>
          <a:noFill/>
          <a:ln w="12700">
            <a:solidFill>
              <a:srgbClr val="1B8A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33688" y="4434840"/>
            <a:ext cx="64008" cy="64008"/>
          </a:xfrm>
          <a:prstGeom prst="ellipse">
            <a:avLst/>
          </a:prstGeom>
          <a:solidFill>
            <a:srgbClr val="1B8AC2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3199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9000" dirty="0"/>
          </a:p>
        </p:txBody>
      </p:sp>
      <p:sp>
        <p:nvSpPr>
          <p:cNvPr id="12" name="Shape 10"/>
          <p:cNvSpPr/>
          <p:nvPr/>
        </p:nvSpPr>
        <p:spPr>
          <a:xfrm>
            <a:off x="3200400" y="3493008"/>
            <a:ext cx="2743200" cy="45720"/>
          </a:xfrm>
          <a:prstGeom prst="rect">
            <a:avLst/>
          </a:prstGeom>
          <a:solidFill>
            <a:srgbClr val="3199CE"/>
          </a:solidFill>
          <a:ln w="12700">
            <a:solidFill>
              <a:srgbClr val="319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12  ·  UFCFWN-15-M  ·  Information Risk Management  ·  23 April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005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Faris Sara  22033195    Yerim Mohamad  21052002    Ibrahim Sheikh  25006888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434840"/>
            <a:ext cx="320040" cy="320040"/>
          </a:xfrm>
          <a:prstGeom prst="rect">
            <a:avLst/>
          </a:prstGeom>
          <a:solidFill>
            <a:srgbClr val="0D2144"/>
          </a:solidFill>
          <a:ln w="12700">
            <a:solidFill>
              <a:srgbClr val="1B8A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434840"/>
            <a:ext cx="182880" cy="320040"/>
          </a:xfrm>
          <a:prstGeom prst="rect">
            <a:avLst/>
          </a:prstGeom>
          <a:solidFill>
            <a:srgbClr val="173079"/>
          </a:solidFill>
          <a:ln w="12700">
            <a:solidFill>
              <a:srgbClr val="1730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98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A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× × ×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2281</Words>
  <Application>Microsoft Office PowerPoint</Application>
  <PresentationFormat>On-screen Show (16:9)</PresentationFormat>
  <Paragraphs>457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NeoFin — Proposed ISMS</dc:title>
  <dc:subject>PptxGenJS Presentation</dc:subject>
  <dc:creator>PptxGenJS</dc:creator>
  <cp:lastModifiedBy>Faris Sara (Student)</cp:lastModifiedBy>
  <cp:revision>7</cp:revision>
  <dcterms:created xsi:type="dcterms:W3CDTF">2026-04-19T22:52:17Z</dcterms:created>
  <dcterms:modified xsi:type="dcterms:W3CDTF">2026-04-22T16:29:20Z</dcterms:modified>
</cp:coreProperties>
</file>